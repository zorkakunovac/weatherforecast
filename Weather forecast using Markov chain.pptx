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80" r:id="rId6"/>
    <p:sldId id="282" r:id="rId7"/>
    <p:sldId id="281" r:id="rId8"/>
    <p:sldId id="283" r:id="rId9"/>
    <p:sldId id="284" r:id="rId10"/>
    <p:sldId id="285" r:id="rId11"/>
    <p:sldId id="286" r:id="rId12"/>
    <p:sldId id="287" r:id="rId13"/>
    <p:sldId id="289" r:id="rId14"/>
    <p:sldId id="288" r:id="rId15"/>
    <p:sldId id="291" r:id="rId16"/>
    <p:sldId id="292" r:id="rId17"/>
    <p:sldId id="293" r:id="rId18"/>
    <p:sldId id="294" r:id="rId19"/>
    <p:sldId id="295" r:id="rId20"/>
    <p:sldId id="29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6/29/2022</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ED39F9-A496-4C71-91F9-AAA5046A19B2}"/>
              </a:ext>
            </a:extLst>
          </p:cNvPr>
          <p:cNvSpPr txBox="1">
            <a:spLocks/>
          </p:cNvSpPr>
          <p:nvPr/>
        </p:nvSpPr>
        <p:spPr>
          <a:xfrm>
            <a:off x="1527264" y="2300486"/>
            <a:ext cx="9595683" cy="915411"/>
          </a:xfrm>
          <a:prstGeom prst="rect">
            <a:avLst/>
          </a:prstGeom>
          <a:effectLst/>
        </p:spPr>
        <p:txBody>
          <a:bodyPr vert="horz" lIns="91440" tIns="45720" rIns="91440" bIns="45720" rtlCol="0" anchor="b">
            <a:normAutofit fontScale="92500"/>
          </a:bodyPr>
          <a:lstStyle>
            <a:lvl1pPr algn="r" defTabSz="457200" rtl="0" eaLnBrk="1" latinLnBrk="0" hangingPunct="1">
              <a:spcBef>
                <a:spcPct val="0"/>
              </a:spcBef>
              <a:buNone/>
              <a:defRPr sz="48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400" dirty="0"/>
              <a:t>Weather forecast using Markov chain</a:t>
            </a:r>
            <a:endParaRPr lang="en-US" sz="4400" dirty="0">
              <a:latin typeface="Garamond" panose="02020404030301010803" pitchFamily="18" charset="0"/>
            </a:endParaRPr>
          </a:p>
        </p:txBody>
      </p:sp>
      <p:sp>
        <p:nvSpPr>
          <p:cNvPr id="7" name="Rezervirano mjesto sadržaja 2">
            <a:extLst>
              <a:ext uri="{FF2B5EF4-FFF2-40B4-BE49-F238E27FC236}">
                <a16:creationId xmlns:a16="http://schemas.microsoft.com/office/drawing/2014/main" id="{07C187D7-CCA8-4F74-AEAE-CD21884B8AF2}"/>
              </a:ext>
            </a:extLst>
          </p:cNvPr>
          <p:cNvSpPr txBox="1">
            <a:spLocks/>
          </p:cNvSpPr>
          <p:nvPr/>
        </p:nvSpPr>
        <p:spPr>
          <a:xfrm>
            <a:off x="1736210" y="5211365"/>
            <a:ext cx="2898114" cy="85521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bs-Latn-BA" sz="1600" dirty="0">
                <a:latin typeface="Arial" panose="020B0604020202020204" pitchFamily="34" charset="0"/>
                <a:cs typeface="Arial" panose="020B0604020202020204" pitchFamily="34" charset="0"/>
              </a:rPr>
              <a:t>Mentor: </a:t>
            </a:r>
          </a:p>
          <a:p>
            <a:pPr algn="l">
              <a:lnSpc>
                <a:spcPct val="100000"/>
              </a:lnSpc>
            </a:pPr>
            <a:r>
              <a:rPr lang="bs-Latn-BA" sz="1600" dirty="0">
                <a:latin typeface="Arial" panose="020B0604020202020204" pitchFamily="34" charset="0"/>
                <a:cs typeface="Arial" panose="020B0604020202020204" pitchFamily="34" charset="0"/>
              </a:rPr>
              <a:t>prof. dr. </a:t>
            </a:r>
            <a:r>
              <a:rPr lang="en-US" sz="1600" dirty="0">
                <a:latin typeface="Arial" panose="020B0604020202020204" pitchFamily="34" charset="0"/>
                <a:cs typeface="Arial" panose="020B0604020202020204" pitchFamily="34" charset="0"/>
              </a:rPr>
              <a:t>Migdat Hod</a:t>
            </a:r>
            <a:r>
              <a:rPr lang="bs-Latn-BA" sz="1600" dirty="0" err="1">
                <a:latin typeface="Arial" panose="020B0604020202020204" pitchFamily="34" charset="0"/>
                <a:cs typeface="Arial" panose="020B0604020202020204" pitchFamily="34" charset="0"/>
              </a:rPr>
              <a:t>žić</a:t>
            </a:r>
            <a:endParaRPr lang="bs-Latn-BA" sz="1600" dirty="0">
              <a:latin typeface="Arial" panose="020B0604020202020204" pitchFamily="34" charset="0"/>
              <a:cs typeface="Arial" panose="020B0604020202020204" pitchFamily="34" charset="0"/>
            </a:endParaRPr>
          </a:p>
        </p:txBody>
      </p:sp>
      <p:sp>
        <p:nvSpPr>
          <p:cNvPr id="8" name="Rezervirano mjesto sadržaja 2">
            <a:extLst>
              <a:ext uri="{FF2B5EF4-FFF2-40B4-BE49-F238E27FC236}">
                <a16:creationId xmlns:a16="http://schemas.microsoft.com/office/drawing/2014/main" id="{1F327434-6D5C-4A6C-81B8-0EA421420F42}"/>
              </a:ext>
            </a:extLst>
          </p:cNvPr>
          <p:cNvSpPr txBox="1">
            <a:spLocks/>
          </p:cNvSpPr>
          <p:nvPr/>
        </p:nvSpPr>
        <p:spPr>
          <a:xfrm>
            <a:off x="8609858" y="5211365"/>
            <a:ext cx="2373574" cy="85521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bs-Latn-BA" sz="1600" dirty="0">
                <a:latin typeface="Arial" panose="020B0604020202020204" pitchFamily="34" charset="0"/>
                <a:cs typeface="Arial" panose="020B0604020202020204" pitchFamily="34" charset="0"/>
              </a:rPr>
              <a:t>Student: </a:t>
            </a:r>
          </a:p>
          <a:p>
            <a:pPr algn="l">
              <a:lnSpc>
                <a:spcPct val="100000"/>
              </a:lnSpc>
            </a:pPr>
            <a:r>
              <a:rPr lang="bs-Latn-BA" sz="1600" dirty="0">
                <a:latin typeface="Arial" panose="020B0604020202020204" pitchFamily="34" charset="0"/>
                <a:cs typeface="Arial" panose="020B0604020202020204" pitchFamily="34" charset="0"/>
              </a:rPr>
              <a:t>Zorka Kunovac</a:t>
            </a:r>
          </a:p>
        </p:txBody>
      </p:sp>
    </p:spTree>
    <p:extLst>
      <p:ext uri="{BB962C8B-B14F-4D97-AF65-F5344CB8AC3E}">
        <p14:creationId xmlns:p14="http://schemas.microsoft.com/office/powerpoint/2010/main" val="10175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D3173-293E-4A18-A47C-BDCBD242CFA5}"/>
              </a:ext>
            </a:extLst>
          </p:cNvPr>
          <p:cNvSpPr>
            <a:spLocks noGrp="1"/>
          </p:cNvSpPr>
          <p:nvPr>
            <p:ph type="ctrTitle"/>
          </p:nvPr>
        </p:nvSpPr>
        <p:spPr>
          <a:xfrm>
            <a:off x="4412510" y="786809"/>
            <a:ext cx="3285461" cy="859267"/>
          </a:xfrm>
        </p:spPr>
        <p:txBody>
          <a:bodyPr>
            <a:normAutofit fontScale="90000"/>
          </a:bodyPr>
          <a:lstStyle/>
          <a:p>
            <a:pPr algn="ctr"/>
            <a:r>
              <a:rPr lang="en-US" dirty="0">
                <a:latin typeface="Garamond" panose="02020404030301010803" pitchFamily="18" charset="0"/>
              </a:rPr>
              <a:t>Content</a:t>
            </a:r>
            <a:r>
              <a:rPr lang="bs-Latn-BA" dirty="0"/>
              <a:t>:</a:t>
            </a:r>
          </a:p>
        </p:txBody>
      </p:sp>
      <p:sp>
        <p:nvSpPr>
          <p:cNvPr id="6" name="Subtitle 2">
            <a:extLst>
              <a:ext uri="{FF2B5EF4-FFF2-40B4-BE49-F238E27FC236}">
                <a16:creationId xmlns:a16="http://schemas.microsoft.com/office/drawing/2014/main" id="{BDA72103-DD20-4D62-8E8C-2C8E9711E42E}"/>
              </a:ext>
            </a:extLst>
          </p:cNvPr>
          <p:cNvSpPr>
            <a:spLocks noGrp="1"/>
          </p:cNvSpPr>
          <p:nvPr>
            <p:ph type="subTitle" idx="1"/>
          </p:nvPr>
        </p:nvSpPr>
        <p:spPr>
          <a:xfrm>
            <a:off x="4412510" y="1850065"/>
            <a:ext cx="4338085" cy="4380613"/>
          </a:xfrm>
        </p:spPr>
        <p:txBody>
          <a:bodyPr>
            <a:normAutofit fontScale="92500" lnSpcReduction="10000"/>
          </a:bodyPr>
          <a:lstStyle/>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Introduction</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Business understanding and methods</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Data understanding</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Markov chain</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Atmospheric pressure</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Results</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Demo</a:t>
            </a:r>
          </a:p>
          <a:p>
            <a:pPr marL="285750" indent="-285750" algn="l">
              <a:lnSpc>
                <a:spcPct val="150000"/>
              </a:lnSpc>
              <a:buFont typeface="Arial" panose="020B0604020202020204" pitchFamily="34" charset="0"/>
              <a:buChar char="•"/>
            </a:pPr>
            <a:r>
              <a:rPr lang="en-US" sz="2000" cap="none" dirty="0">
                <a:latin typeface="Garamond" panose="02020404030301010803" pitchFamily="18" charset="0"/>
              </a:rPr>
              <a:t>Conclusion</a:t>
            </a:r>
          </a:p>
        </p:txBody>
      </p:sp>
    </p:spTree>
    <p:extLst>
      <p:ext uri="{BB962C8B-B14F-4D97-AF65-F5344CB8AC3E}">
        <p14:creationId xmlns:p14="http://schemas.microsoft.com/office/powerpoint/2010/main" val="1986742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B612-0025-432E-84F0-878CC38D7FE6}"/>
              </a:ext>
            </a:extLst>
          </p:cNvPr>
          <p:cNvSpPr>
            <a:spLocks noGrp="1"/>
          </p:cNvSpPr>
          <p:nvPr>
            <p:ph type="title"/>
          </p:nvPr>
        </p:nvSpPr>
        <p:spPr>
          <a:xfrm>
            <a:off x="685801" y="609600"/>
            <a:ext cx="10131425" cy="1123507"/>
          </a:xfrm>
        </p:spPr>
        <p:txBody>
          <a:bodyPr/>
          <a:lstStyle/>
          <a:p>
            <a:r>
              <a:rPr lang="en-US" dirty="0">
                <a:latin typeface="Garamond" panose="02020404030301010803" pitchFamily="18" charset="0"/>
              </a:rPr>
              <a:t>Introduction</a:t>
            </a:r>
          </a:p>
        </p:txBody>
      </p:sp>
      <p:sp>
        <p:nvSpPr>
          <p:cNvPr id="3" name="Content Placeholder 2">
            <a:extLst>
              <a:ext uri="{FF2B5EF4-FFF2-40B4-BE49-F238E27FC236}">
                <a16:creationId xmlns:a16="http://schemas.microsoft.com/office/drawing/2014/main" id="{2C7A1603-925A-44EA-97CB-67197CB19A07}"/>
              </a:ext>
            </a:extLst>
          </p:cNvPr>
          <p:cNvSpPr>
            <a:spLocks noGrp="1"/>
          </p:cNvSpPr>
          <p:nvPr>
            <p:ph idx="1"/>
          </p:nvPr>
        </p:nvSpPr>
        <p:spPr>
          <a:xfrm>
            <a:off x="685801" y="1913861"/>
            <a:ext cx="10131425" cy="3551274"/>
          </a:xfrm>
        </p:spPr>
        <p:txBody>
          <a:bodyPr>
            <a:normAutofit/>
          </a:bodyPr>
          <a:lstStyle/>
          <a:p>
            <a:r>
              <a:rPr lang="en-US" dirty="0">
                <a:latin typeface="Garamond" panose="02020404030301010803" pitchFamily="18" charset="0"/>
              </a:rPr>
              <a:t>Weather has changed dramatically</a:t>
            </a:r>
          </a:p>
          <a:p>
            <a:endParaRPr lang="bs-Latn-BA" dirty="0">
              <a:latin typeface="Garamond" panose="02020404030301010803" pitchFamily="18" charset="0"/>
            </a:endParaRPr>
          </a:p>
          <a:p>
            <a:r>
              <a:rPr lang="en-US" dirty="0">
                <a:latin typeface="Garamond" panose="02020404030301010803" pitchFamily="18" charset="0"/>
              </a:rPr>
              <a:t>Sudden changes in the weather in just one day </a:t>
            </a:r>
          </a:p>
          <a:p>
            <a:endParaRPr lang="bs-Latn-BA" dirty="0">
              <a:latin typeface="Garamond" panose="02020404030301010803" pitchFamily="18" charset="0"/>
            </a:endParaRPr>
          </a:p>
          <a:p>
            <a:r>
              <a:rPr lang="en-US" dirty="0">
                <a:latin typeface="Garamond" panose="02020404030301010803" pitchFamily="18" charset="0"/>
              </a:rPr>
              <a:t>Pressure - meteoropathy</a:t>
            </a:r>
            <a:endParaRPr lang="bs-Latn-BA" dirty="0">
              <a:latin typeface="Garamond" panose="02020404030301010803" pitchFamily="18" charset="0"/>
            </a:endParaRPr>
          </a:p>
          <a:p>
            <a:pPr marL="0" indent="0">
              <a:buNone/>
            </a:pPr>
            <a:endParaRPr lang="bs-Latn-BA" dirty="0">
              <a:latin typeface="Garamond" panose="02020404030301010803" pitchFamily="18" charset="0"/>
            </a:endParaRPr>
          </a:p>
          <a:p>
            <a:r>
              <a:rPr lang="en-US" dirty="0">
                <a:latin typeface="Garamond" panose="02020404030301010803" pitchFamily="18" charset="0"/>
              </a:rPr>
              <a:t>The goal is weather forecasting and determining the impact of weather and weather changes on human health </a:t>
            </a:r>
            <a:endParaRPr lang="bs-Latn-BA" dirty="0">
              <a:latin typeface="Garamond" panose="02020404030301010803" pitchFamily="18" charset="0"/>
            </a:endParaRPr>
          </a:p>
        </p:txBody>
      </p:sp>
    </p:spTree>
    <p:extLst>
      <p:ext uri="{BB962C8B-B14F-4D97-AF65-F5344CB8AC3E}">
        <p14:creationId xmlns:p14="http://schemas.microsoft.com/office/powerpoint/2010/main" val="277278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B612-0025-432E-84F0-878CC38D7FE6}"/>
              </a:ext>
            </a:extLst>
          </p:cNvPr>
          <p:cNvSpPr>
            <a:spLocks noGrp="1"/>
          </p:cNvSpPr>
          <p:nvPr>
            <p:ph type="title"/>
          </p:nvPr>
        </p:nvSpPr>
        <p:spPr>
          <a:xfrm>
            <a:off x="685801" y="609601"/>
            <a:ext cx="10131425" cy="570614"/>
          </a:xfrm>
        </p:spPr>
        <p:txBody>
          <a:bodyPr>
            <a:normAutofit fontScale="90000"/>
          </a:bodyPr>
          <a:lstStyle/>
          <a:p>
            <a:r>
              <a:rPr lang="en-US" dirty="0">
                <a:latin typeface="Garamond" panose="02020404030301010803" pitchFamily="18" charset="0"/>
              </a:rPr>
              <a:t>Introduction</a:t>
            </a:r>
          </a:p>
        </p:txBody>
      </p:sp>
      <p:sp>
        <p:nvSpPr>
          <p:cNvPr id="3" name="Content Placeholder 2">
            <a:extLst>
              <a:ext uri="{FF2B5EF4-FFF2-40B4-BE49-F238E27FC236}">
                <a16:creationId xmlns:a16="http://schemas.microsoft.com/office/drawing/2014/main" id="{2C7A1603-925A-44EA-97CB-67197CB19A07}"/>
              </a:ext>
            </a:extLst>
          </p:cNvPr>
          <p:cNvSpPr>
            <a:spLocks noGrp="1"/>
          </p:cNvSpPr>
          <p:nvPr>
            <p:ph idx="1"/>
          </p:nvPr>
        </p:nvSpPr>
        <p:spPr>
          <a:xfrm>
            <a:off x="685799" y="2200939"/>
            <a:ext cx="10131425" cy="4210494"/>
          </a:xfrm>
        </p:spPr>
        <p:txBody>
          <a:bodyPr>
            <a:normAutofit/>
          </a:bodyPr>
          <a:lstStyle/>
          <a:p>
            <a:r>
              <a:rPr lang="en-US" dirty="0">
                <a:latin typeface="Garamond" panose="02020404030301010803" pitchFamily="18" charset="0"/>
              </a:rPr>
              <a:t>Human bodies get used to a certain climate, and when those things change suddenly, the human body has to try to adapt. Unfortunately, sometimes our bodies have a difficult time adjusting, which can trigger an illness </a:t>
            </a:r>
          </a:p>
          <a:p>
            <a:endParaRPr lang="bs-Latn-BA" dirty="0">
              <a:latin typeface="Garamond" panose="02020404030301010803" pitchFamily="18" charset="0"/>
            </a:endParaRPr>
          </a:p>
          <a:p>
            <a:r>
              <a:rPr lang="en-US" dirty="0">
                <a:latin typeface="Garamond" panose="02020404030301010803" pitchFamily="18" charset="0"/>
              </a:rPr>
              <a:t>Six main symptoms caused by weather changes :</a:t>
            </a:r>
          </a:p>
          <a:p>
            <a:pPr lvl="1"/>
            <a:r>
              <a:rPr lang="en-US" dirty="0">
                <a:latin typeface="Garamond" panose="02020404030301010803" pitchFamily="18" charset="0"/>
              </a:rPr>
              <a:t>Changes in blood pressure </a:t>
            </a:r>
          </a:p>
          <a:p>
            <a:pPr lvl="1"/>
            <a:r>
              <a:rPr lang="en-US" dirty="0">
                <a:latin typeface="Garamond" panose="02020404030301010803" pitchFamily="18" charset="0"/>
              </a:rPr>
              <a:t>Headache</a:t>
            </a:r>
          </a:p>
          <a:p>
            <a:pPr lvl="1"/>
            <a:r>
              <a:rPr lang="en-US" dirty="0">
                <a:latin typeface="Garamond" panose="02020404030301010803" pitchFamily="18" charset="0"/>
              </a:rPr>
              <a:t>Sleep</a:t>
            </a:r>
            <a:r>
              <a:rPr lang="bs-Latn-BA" dirty="0">
                <a:latin typeface="Garamond" panose="02020404030301010803" pitchFamily="18" charset="0"/>
              </a:rPr>
              <a:t> </a:t>
            </a:r>
            <a:r>
              <a:rPr lang="en-US" dirty="0">
                <a:latin typeface="Garamond" panose="02020404030301010803" pitchFamily="18" charset="0"/>
              </a:rPr>
              <a:t>problems</a:t>
            </a:r>
          </a:p>
          <a:p>
            <a:pPr lvl="1"/>
            <a:r>
              <a:rPr lang="en-US" dirty="0">
                <a:latin typeface="Garamond" panose="02020404030301010803" pitchFamily="18" charset="0"/>
              </a:rPr>
              <a:t>Increased number of heart attacks</a:t>
            </a:r>
          </a:p>
          <a:p>
            <a:pPr lvl="1"/>
            <a:r>
              <a:rPr lang="en-US" dirty="0">
                <a:latin typeface="Garamond" panose="02020404030301010803" pitchFamily="18" charset="0"/>
              </a:rPr>
              <a:t>Breathing problems</a:t>
            </a:r>
          </a:p>
          <a:p>
            <a:pPr lvl="1"/>
            <a:r>
              <a:rPr lang="en-US" dirty="0">
                <a:latin typeface="Garamond" panose="02020404030301010803" pitchFamily="18" charset="0"/>
              </a:rPr>
              <a:t>Weakened immune system</a:t>
            </a:r>
          </a:p>
          <a:p>
            <a:pPr lvl="1"/>
            <a:endParaRPr lang="bs-Latn-BA" dirty="0">
              <a:latin typeface="Garamond" panose="02020404030301010803" pitchFamily="18" charset="0"/>
            </a:endParaRPr>
          </a:p>
        </p:txBody>
      </p:sp>
      <p:sp>
        <p:nvSpPr>
          <p:cNvPr id="6" name="Title 1">
            <a:extLst>
              <a:ext uri="{FF2B5EF4-FFF2-40B4-BE49-F238E27FC236}">
                <a16:creationId xmlns:a16="http://schemas.microsoft.com/office/drawing/2014/main" id="{C45A12E2-871B-4A48-BB7C-2AB337DC06FF}"/>
              </a:ext>
            </a:extLst>
          </p:cNvPr>
          <p:cNvSpPr txBox="1">
            <a:spLocks/>
          </p:cNvSpPr>
          <p:nvPr/>
        </p:nvSpPr>
        <p:spPr>
          <a:xfrm>
            <a:off x="685799" y="1639186"/>
            <a:ext cx="10131425" cy="402265"/>
          </a:xfrm>
          <a:prstGeom prst="rect">
            <a:avLst/>
          </a:prstGeom>
          <a:effectLst/>
        </p:spPr>
        <p:txBody>
          <a:bodyPr vert="horz" lIns="91440" tIns="45720" rIns="91440" bIns="45720" rtlCol="0" anchor="ctr">
            <a:normAutofit lnSpcReduction="10000"/>
          </a:bodyPr>
          <a:lst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00" dirty="0">
                <a:latin typeface="Garamond" panose="02020404030301010803" pitchFamily="18" charset="0"/>
              </a:rPr>
              <a:t>Can a sudden change in the weather affect human health? </a:t>
            </a:r>
            <a:endParaRPr lang="bs-Latn-BA" sz="2200" dirty="0">
              <a:latin typeface="Garamond" panose="02020404030301010803"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val="3688204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B612-0025-432E-84F0-878CC38D7FE6}"/>
              </a:ext>
            </a:extLst>
          </p:cNvPr>
          <p:cNvSpPr>
            <a:spLocks noGrp="1"/>
          </p:cNvSpPr>
          <p:nvPr>
            <p:ph type="title"/>
          </p:nvPr>
        </p:nvSpPr>
        <p:spPr>
          <a:xfrm>
            <a:off x="685801" y="609600"/>
            <a:ext cx="10131425" cy="889591"/>
          </a:xfrm>
        </p:spPr>
        <p:txBody>
          <a:bodyPr>
            <a:normAutofit/>
          </a:bodyPr>
          <a:lstStyle/>
          <a:p>
            <a:r>
              <a:rPr lang="en-US" dirty="0">
                <a:latin typeface="Garamond" panose="02020404030301010803" pitchFamily="18" charset="0"/>
              </a:rPr>
              <a:t>Business understanding and methods</a:t>
            </a:r>
          </a:p>
        </p:txBody>
      </p:sp>
      <p:sp>
        <p:nvSpPr>
          <p:cNvPr id="3" name="Content Placeholder 2">
            <a:extLst>
              <a:ext uri="{FF2B5EF4-FFF2-40B4-BE49-F238E27FC236}">
                <a16:creationId xmlns:a16="http://schemas.microsoft.com/office/drawing/2014/main" id="{2C7A1603-925A-44EA-97CB-67197CB19A07}"/>
              </a:ext>
            </a:extLst>
          </p:cNvPr>
          <p:cNvSpPr>
            <a:spLocks noGrp="1"/>
          </p:cNvSpPr>
          <p:nvPr>
            <p:ph idx="1"/>
          </p:nvPr>
        </p:nvSpPr>
        <p:spPr>
          <a:xfrm>
            <a:off x="685801" y="1913860"/>
            <a:ext cx="10131425" cy="4486939"/>
          </a:xfrm>
        </p:spPr>
        <p:txBody>
          <a:bodyPr>
            <a:normAutofit lnSpcReduction="10000"/>
          </a:bodyPr>
          <a:lstStyle/>
          <a:p>
            <a:r>
              <a:rPr lang="en-US" dirty="0">
                <a:latin typeface="Garamond" panose="02020404030301010803" pitchFamily="18" charset="0"/>
              </a:rPr>
              <a:t>With sudden changes in temperature, atmospheric pressure or humidity, people most often complain of irritability or low and depressed mood</a:t>
            </a:r>
            <a:endParaRPr lang="bs-Latn-BA" dirty="0">
              <a:latin typeface="Garamond" panose="02020404030301010803" pitchFamily="18" charset="0"/>
            </a:endParaRPr>
          </a:p>
          <a:p>
            <a:endParaRPr lang="bs-Latn-BA" dirty="0">
              <a:latin typeface="Garamond" panose="02020404030301010803" pitchFamily="18" charset="0"/>
            </a:endParaRPr>
          </a:p>
          <a:p>
            <a:r>
              <a:rPr lang="en-US" dirty="0">
                <a:latin typeface="Garamond" panose="02020404030301010803" pitchFamily="18" charset="0"/>
              </a:rPr>
              <a:t>Meteoropathy is a disease of the modern age and is related to the modern way of life</a:t>
            </a:r>
          </a:p>
          <a:p>
            <a:endParaRPr lang="en-US" dirty="0">
              <a:latin typeface="Garamond" panose="02020404030301010803" pitchFamily="18" charset="0"/>
            </a:endParaRPr>
          </a:p>
          <a:p>
            <a:r>
              <a:rPr lang="en-US" dirty="0">
                <a:latin typeface="Garamond" panose="02020404030301010803" pitchFamily="18" charset="0"/>
              </a:rPr>
              <a:t>Risk groups: middle-aged and older people, especially women, but also children, people who have mental and behavioral disorders</a:t>
            </a:r>
          </a:p>
          <a:p>
            <a:endParaRPr lang="en-US" dirty="0">
              <a:latin typeface="Garamond" panose="02020404030301010803" pitchFamily="18" charset="0"/>
            </a:endParaRPr>
          </a:p>
          <a:p>
            <a:r>
              <a:rPr lang="en-US" dirty="0">
                <a:latin typeface="Garamond" panose="02020404030301010803" pitchFamily="18" charset="0"/>
              </a:rPr>
              <a:t>Older people, people who have had surgery, people whose occupations include prolonged sitting at work and using a computer, may feel symptoms at every change of time </a:t>
            </a:r>
          </a:p>
          <a:p>
            <a:endParaRPr lang="en-US" dirty="0">
              <a:latin typeface="Garamond" panose="02020404030301010803" pitchFamily="18" charset="0"/>
            </a:endParaRPr>
          </a:p>
          <a:p>
            <a:r>
              <a:rPr lang="en-US" dirty="0">
                <a:latin typeface="Garamond" panose="02020404030301010803" pitchFamily="18" charset="0"/>
              </a:rPr>
              <a:t>Markov chain</a:t>
            </a:r>
            <a:endParaRPr lang="bs-Latn-BA" dirty="0">
              <a:latin typeface="Garamond" panose="02020404030301010803" pitchFamily="18" charset="0"/>
            </a:endParaRPr>
          </a:p>
          <a:p>
            <a:endParaRPr lang="bs-Latn-BA" dirty="0">
              <a:latin typeface="Garamond" panose="02020404030301010803" pitchFamily="18" charset="0"/>
            </a:endParaRPr>
          </a:p>
        </p:txBody>
      </p:sp>
    </p:spTree>
    <p:extLst>
      <p:ext uri="{BB962C8B-B14F-4D97-AF65-F5344CB8AC3E}">
        <p14:creationId xmlns:p14="http://schemas.microsoft.com/office/powerpoint/2010/main" val="1659493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B612-0025-432E-84F0-878CC38D7FE6}"/>
              </a:ext>
            </a:extLst>
          </p:cNvPr>
          <p:cNvSpPr>
            <a:spLocks noGrp="1"/>
          </p:cNvSpPr>
          <p:nvPr>
            <p:ph type="title"/>
          </p:nvPr>
        </p:nvSpPr>
        <p:spPr>
          <a:xfrm>
            <a:off x="845989" y="471378"/>
            <a:ext cx="10131425" cy="847060"/>
          </a:xfrm>
        </p:spPr>
        <p:txBody>
          <a:bodyPr/>
          <a:lstStyle/>
          <a:p>
            <a:r>
              <a:rPr lang="bs-Latn-BA" dirty="0">
                <a:latin typeface="Garamond" panose="02020404030301010803" pitchFamily="18" charset="0"/>
              </a:rPr>
              <a:t>Data </a:t>
            </a:r>
            <a:r>
              <a:rPr lang="en-US" dirty="0">
                <a:latin typeface="Garamond" panose="02020404030301010803" pitchFamily="18" charset="0"/>
              </a:rPr>
              <a:t>understanding</a:t>
            </a:r>
            <a:r>
              <a:rPr lang="bs-Latn-BA" dirty="0">
                <a:latin typeface="Garamond" panose="02020404030301010803" pitchFamily="18" charset="0"/>
              </a:rPr>
              <a:t> </a:t>
            </a:r>
            <a:endParaRPr lang="en-US" dirty="0">
              <a:latin typeface="Garamond" panose="02020404030301010803" pitchFamily="18" charset="0"/>
            </a:endParaRPr>
          </a:p>
        </p:txBody>
      </p:sp>
      <p:sp>
        <p:nvSpPr>
          <p:cNvPr id="3" name="Content Placeholder 2">
            <a:extLst>
              <a:ext uri="{FF2B5EF4-FFF2-40B4-BE49-F238E27FC236}">
                <a16:creationId xmlns:a16="http://schemas.microsoft.com/office/drawing/2014/main" id="{2C7A1603-925A-44EA-97CB-67197CB19A07}"/>
              </a:ext>
            </a:extLst>
          </p:cNvPr>
          <p:cNvSpPr>
            <a:spLocks noGrp="1"/>
          </p:cNvSpPr>
          <p:nvPr>
            <p:ph sz="half" idx="1"/>
          </p:nvPr>
        </p:nvSpPr>
        <p:spPr>
          <a:xfrm>
            <a:off x="845989" y="1699856"/>
            <a:ext cx="5512981" cy="5062452"/>
          </a:xfrm>
        </p:spPr>
        <p:txBody>
          <a:bodyPr>
            <a:normAutofit lnSpcReduction="10000"/>
          </a:bodyPr>
          <a:lstStyle/>
          <a:p>
            <a:r>
              <a:rPr lang="en-US" dirty="0">
                <a:latin typeface="Garamond" panose="02020404030301010803" pitchFamily="18" charset="0"/>
              </a:rPr>
              <a:t>Historical data on actual weather events </a:t>
            </a:r>
          </a:p>
          <a:p>
            <a:pPr marL="0" indent="0">
              <a:buNone/>
            </a:pPr>
            <a:endParaRPr lang="bs-Latn-BA" dirty="0">
              <a:latin typeface="Garamond" panose="02020404030301010803" pitchFamily="18" charset="0"/>
            </a:endParaRPr>
          </a:p>
          <a:p>
            <a:r>
              <a:rPr lang="en-US" dirty="0">
                <a:latin typeface="Garamond" panose="02020404030301010803" pitchFamily="18" charset="0"/>
              </a:rPr>
              <a:t>Observed</a:t>
            </a:r>
            <a:r>
              <a:rPr lang="bs-Latn-BA" dirty="0">
                <a:latin typeface="Garamond" panose="02020404030301010803" pitchFamily="18" charset="0"/>
              </a:rPr>
              <a:t> </a:t>
            </a:r>
            <a:r>
              <a:rPr lang="en-US" dirty="0">
                <a:latin typeface="Garamond" panose="02020404030301010803" pitchFamily="18" charset="0"/>
              </a:rPr>
              <a:t>period of 21 days, specifically the period from May 20th to June 9th. </a:t>
            </a:r>
            <a:endParaRPr lang="bs-Latn-BA" dirty="0">
              <a:latin typeface="Garamond" panose="02020404030301010803" pitchFamily="18" charset="0"/>
            </a:endParaRPr>
          </a:p>
          <a:p>
            <a:endParaRPr lang="bs-Latn-BA" dirty="0">
              <a:latin typeface="Garamond" panose="02020404030301010803" pitchFamily="18" charset="0"/>
            </a:endParaRPr>
          </a:p>
          <a:p>
            <a:r>
              <a:rPr lang="bs-Latn-BA" dirty="0">
                <a:latin typeface="Garamond" panose="02020404030301010803" pitchFamily="18" charset="0"/>
              </a:rPr>
              <a:t>T</a:t>
            </a:r>
            <a:r>
              <a:rPr lang="en-US" dirty="0">
                <a:latin typeface="Garamond" panose="02020404030301010803" pitchFamily="18" charset="0"/>
              </a:rPr>
              <a:t>hree states were observed: </a:t>
            </a:r>
            <a:r>
              <a:rPr lang="bs-Latn-BA" dirty="0">
                <a:latin typeface="Garamond" panose="02020404030301010803" pitchFamily="18" charset="0"/>
              </a:rPr>
              <a:t>S</a:t>
            </a:r>
            <a:r>
              <a:rPr lang="en-US" dirty="0">
                <a:latin typeface="Garamond" panose="02020404030301010803" pitchFamily="18" charset="0"/>
              </a:rPr>
              <a:t>unny, </a:t>
            </a:r>
            <a:r>
              <a:rPr lang="bs-Latn-BA" dirty="0">
                <a:latin typeface="Garamond" panose="02020404030301010803" pitchFamily="18" charset="0"/>
              </a:rPr>
              <a:t>C</a:t>
            </a:r>
            <a:r>
              <a:rPr lang="en-US" dirty="0">
                <a:latin typeface="Garamond" panose="02020404030301010803" pitchFamily="18" charset="0"/>
              </a:rPr>
              <a:t>loudy, </a:t>
            </a:r>
            <a:r>
              <a:rPr lang="bs-Latn-BA" dirty="0">
                <a:latin typeface="Garamond" panose="02020404030301010803" pitchFamily="18" charset="0"/>
              </a:rPr>
              <a:t>R</a:t>
            </a:r>
            <a:r>
              <a:rPr lang="en-US" dirty="0">
                <a:latin typeface="Garamond" panose="02020404030301010803" pitchFamily="18" charset="0"/>
              </a:rPr>
              <a:t>ain</a:t>
            </a:r>
            <a:endParaRPr lang="bs-Latn-BA" dirty="0">
              <a:latin typeface="Garamond" panose="02020404030301010803" pitchFamily="18" charset="0"/>
            </a:endParaRPr>
          </a:p>
          <a:p>
            <a:r>
              <a:rPr lang="en-US" dirty="0">
                <a:latin typeface="Garamond" panose="02020404030301010803" pitchFamily="18" charset="0"/>
              </a:rPr>
              <a:t>There are questions that were sought to be answered like:</a:t>
            </a:r>
          </a:p>
          <a:p>
            <a:pPr lvl="1"/>
            <a:r>
              <a:rPr lang="en-US" dirty="0">
                <a:latin typeface="Garamond" panose="02020404030301010803" pitchFamily="18" charset="0"/>
              </a:rPr>
              <a:t>a)	If the system is in the Sunny state, what is the probability that it will stay in the Sunny state on the next observation</a:t>
            </a:r>
          </a:p>
          <a:p>
            <a:pPr lvl="1"/>
            <a:r>
              <a:rPr lang="en-US" dirty="0">
                <a:latin typeface="Garamond" panose="02020404030301010803" pitchFamily="18" charset="0"/>
              </a:rPr>
              <a:t>b)	If the system is in the Sunny state, what is the probability that it will be in the Cloudy state on the next observation and what is the probability that it will be in the Rain state?</a:t>
            </a:r>
          </a:p>
          <a:p>
            <a:pPr lvl="1"/>
            <a:r>
              <a:rPr lang="en-US" dirty="0">
                <a:latin typeface="Garamond" panose="02020404030301010803" pitchFamily="18" charset="0"/>
              </a:rPr>
              <a:t>etc.</a:t>
            </a:r>
            <a:endParaRPr lang="bs-Latn-BA" dirty="0">
              <a:latin typeface="Garamond" panose="02020404030301010803" pitchFamily="18" charset="0"/>
            </a:endParaRPr>
          </a:p>
          <a:p>
            <a:endParaRPr lang="bs-Latn-BA" dirty="0">
              <a:latin typeface="Garamond" panose="02020404030301010803" pitchFamily="18" charset="0"/>
            </a:endParaRPr>
          </a:p>
        </p:txBody>
      </p:sp>
      <p:pic>
        <p:nvPicPr>
          <p:cNvPr id="8" name="Content Placeholder 7">
            <a:extLst>
              <a:ext uri="{FF2B5EF4-FFF2-40B4-BE49-F238E27FC236}">
                <a16:creationId xmlns:a16="http://schemas.microsoft.com/office/drawing/2014/main" id="{FF33CA47-5ECE-4973-8C4E-4075378DDD23}"/>
              </a:ext>
            </a:extLst>
          </p:cNvPr>
          <p:cNvPicPr>
            <a:picLocks noGrp="1" noChangeAspect="1"/>
          </p:cNvPicPr>
          <p:nvPr>
            <p:ph sz="half" idx="2"/>
          </p:nvPr>
        </p:nvPicPr>
        <p:blipFill>
          <a:blip r:embed="rId2"/>
          <a:stretch>
            <a:fillRect/>
          </a:stretch>
        </p:blipFill>
        <p:spPr>
          <a:xfrm>
            <a:off x="6709146" y="1185947"/>
            <a:ext cx="3454379" cy="5062453"/>
          </a:xfrm>
          <a:prstGeom prst="rect">
            <a:avLst/>
          </a:prstGeom>
        </p:spPr>
      </p:pic>
    </p:spTree>
    <p:extLst>
      <p:ext uri="{BB962C8B-B14F-4D97-AF65-F5344CB8AC3E}">
        <p14:creationId xmlns:p14="http://schemas.microsoft.com/office/powerpoint/2010/main" val="3840351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342D4-28EB-4CB9-B65C-7184EAC7ADBA}"/>
              </a:ext>
            </a:extLst>
          </p:cNvPr>
          <p:cNvSpPr>
            <a:spLocks noGrp="1"/>
          </p:cNvSpPr>
          <p:nvPr>
            <p:ph type="title"/>
          </p:nvPr>
        </p:nvSpPr>
        <p:spPr>
          <a:xfrm>
            <a:off x="685801" y="609601"/>
            <a:ext cx="10131425" cy="910856"/>
          </a:xfrm>
        </p:spPr>
        <p:txBody>
          <a:bodyPr/>
          <a:lstStyle/>
          <a:p>
            <a:r>
              <a:rPr lang="bs-Latn-BA" dirty="0">
                <a:latin typeface="Garamond" panose="02020404030301010803" pitchFamily="18" charset="0"/>
              </a:rPr>
              <a:t>Data </a:t>
            </a:r>
            <a:r>
              <a:rPr lang="en-US" dirty="0">
                <a:latin typeface="Garamond" panose="02020404030301010803" pitchFamily="18" charset="0"/>
              </a:rPr>
              <a:t>understanding</a:t>
            </a:r>
            <a:r>
              <a:rPr lang="bs-Latn-BA" dirty="0">
                <a:latin typeface="Garamond" panose="02020404030301010803" pitchFamily="18" charset="0"/>
              </a:rPr>
              <a:t> </a:t>
            </a:r>
            <a:endParaRPr lang="bs-Latn-BA" dirty="0"/>
          </a:p>
        </p:txBody>
      </p:sp>
      <p:sp>
        <p:nvSpPr>
          <p:cNvPr id="3" name="Content Placeholder 2">
            <a:extLst>
              <a:ext uri="{FF2B5EF4-FFF2-40B4-BE49-F238E27FC236}">
                <a16:creationId xmlns:a16="http://schemas.microsoft.com/office/drawing/2014/main" id="{CFB53EF9-0351-45F5-A5A5-0B1ABE6883A3}"/>
              </a:ext>
            </a:extLst>
          </p:cNvPr>
          <p:cNvSpPr>
            <a:spLocks noGrp="1"/>
          </p:cNvSpPr>
          <p:nvPr>
            <p:ph sz="half" idx="1"/>
          </p:nvPr>
        </p:nvSpPr>
        <p:spPr>
          <a:xfrm>
            <a:off x="756179" y="1679944"/>
            <a:ext cx="4995334" cy="3649134"/>
          </a:xfrm>
        </p:spPr>
        <p:txBody>
          <a:bodyPr/>
          <a:lstStyle/>
          <a:p>
            <a:r>
              <a:rPr lang="en-US" dirty="0"/>
              <a:t>Minimum temperature, maximum temperature and air pressure </a:t>
            </a:r>
          </a:p>
          <a:p>
            <a:endParaRPr lang="en-US" dirty="0"/>
          </a:p>
          <a:p>
            <a:r>
              <a:rPr lang="en-US" dirty="0"/>
              <a:t>Human health is most affected by temperature changes but also atmospheric pressure</a:t>
            </a:r>
          </a:p>
          <a:p>
            <a:endParaRPr lang="en-US" dirty="0"/>
          </a:p>
          <a:p>
            <a:r>
              <a:rPr lang="en-US" dirty="0"/>
              <a:t>Negative</a:t>
            </a:r>
            <a:r>
              <a:rPr lang="bs-Latn-BA" dirty="0"/>
              <a:t> </a:t>
            </a:r>
            <a:r>
              <a:rPr lang="en-US" dirty="0"/>
              <a:t>impact on health</a:t>
            </a:r>
          </a:p>
        </p:txBody>
      </p:sp>
      <p:pic>
        <p:nvPicPr>
          <p:cNvPr id="5" name="Content Placeholder 4">
            <a:extLst>
              <a:ext uri="{FF2B5EF4-FFF2-40B4-BE49-F238E27FC236}">
                <a16:creationId xmlns:a16="http://schemas.microsoft.com/office/drawing/2014/main" id="{9877D1E3-61D5-4DC8-A949-6EB37A46D48E}"/>
              </a:ext>
            </a:extLst>
          </p:cNvPr>
          <p:cNvPicPr>
            <a:picLocks noGrp="1" noChangeAspect="1"/>
          </p:cNvPicPr>
          <p:nvPr>
            <p:ph sz="half" idx="2"/>
          </p:nvPr>
        </p:nvPicPr>
        <p:blipFill>
          <a:blip r:embed="rId2"/>
          <a:stretch>
            <a:fillRect/>
          </a:stretch>
        </p:blipFill>
        <p:spPr>
          <a:xfrm>
            <a:off x="6637104" y="1679944"/>
            <a:ext cx="3293705" cy="4476790"/>
          </a:xfrm>
          <a:prstGeom prst="rect">
            <a:avLst/>
          </a:prstGeom>
        </p:spPr>
      </p:pic>
    </p:spTree>
    <p:extLst>
      <p:ext uri="{BB962C8B-B14F-4D97-AF65-F5344CB8AC3E}">
        <p14:creationId xmlns:p14="http://schemas.microsoft.com/office/powerpoint/2010/main" val="904724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0ECC-0002-4E28-9398-1F6373B3235B}"/>
              </a:ext>
            </a:extLst>
          </p:cNvPr>
          <p:cNvSpPr>
            <a:spLocks noGrp="1"/>
          </p:cNvSpPr>
          <p:nvPr>
            <p:ph type="title"/>
          </p:nvPr>
        </p:nvSpPr>
        <p:spPr/>
        <p:txBody>
          <a:bodyPr/>
          <a:lstStyle/>
          <a:p>
            <a:r>
              <a:rPr lang="bs-Latn-BA" dirty="0"/>
              <a:t>Markov </a:t>
            </a:r>
            <a:r>
              <a:rPr lang="en-US" dirty="0"/>
              <a:t>chain</a:t>
            </a:r>
          </a:p>
        </p:txBody>
      </p:sp>
      <p:sp>
        <p:nvSpPr>
          <p:cNvPr id="3" name="Content Placeholder 2">
            <a:extLst>
              <a:ext uri="{FF2B5EF4-FFF2-40B4-BE49-F238E27FC236}">
                <a16:creationId xmlns:a16="http://schemas.microsoft.com/office/drawing/2014/main" id="{5137C88A-32B5-4A11-B36B-837C044D2EC2}"/>
              </a:ext>
            </a:extLst>
          </p:cNvPr>
          <p:cNvSpPr>
            <a:spLocks noGrp="1"/>
          </p:cNvSpPr>
          <p:nvPr>
            <p:ph sz="half" idx="1"/>
          </p:nvPr>
        </p:nvSpPr>
        <p:spPr/>
        <p:txBody>
          <a:bodyPr/>
          <a:lstStyle/>
          <a:p>
            <a:r>
              <a:rPr lang="en-US" dirty="0"/>
              <a:t>At any time, the system may go into a new state or may remain in the same state</a:t>
            </a:r>
          </a:p>
          <a:p>
            <a:endParaRPr lang="en-US" dirty="0"/>
          </a:p>
          <a:p>
            <a:r>
              <a:rPr lang="en-US" dirty="0"/>
              <a:t>Changes in the state are called transitions</a:t>
            </a:r>
          </a:p>
          <a:p>
            <a:endParaRPr lang="en-US" dirty="0"/>
          </a:p>
          <a:p>
            <a:r>
              <a:rPr lang="en-US" dirty="0"/>
              <a:t>The future states of the process depend only upon the present state, not on the past states leading up to the present state</a:t>
            </a:r>
          </a:p>
        </p:txBody>
      </p:sp>
      <p:pic>
        <p:nvPicPr>
          <p:cNvPr id="5" name="Content Placeholder 4">
            <a:extLst>
              <a:ext uri="{FF2B5EF4-FFF2-40B4-BE49-F238E27FC236}">
                <a16:creationId xmlns:a16="http://schemas.microsoft.com/office/drawing/2014/main" id="{EC0840D8-8C82-4332-AD21-10FE3E069C9B}"/>
              </a:ext>
            </a:extLst>
          </p:cNvPr>
          <p:cNvPicPr>
            <a:picLocks noGrp="1" noChangeAspect="1"/>
          </p:cNvPicPr>
          <p:nvPr>
            <p:ph sz="half" idx="2"/>
          </p:nvPr>
        </p:nvPicPr>
        <p:blipFill>
          <a:blip r:embed="rId2"/>
          <a:stretch>
            <a:fillRect/>
          </a:stretch>
        </p:blipFill>
        <p:spPr>
          <a:xfrm>
            <a:off x="6095999" y="2647506"/>
            <a:ext cx="4721225" cy="2796363"/>
          </a:xfrm>
          <a:prstGeom prst="rect">
            <a:avLst/>
          </a:prstGeom>
        </p:spPr>
      </p:pic>
    </p:spTree>
    <p:extLst>
      <p:ext uri="{BB962C8B-B14F-4D97-AF65-F5344CB8AC3E}">
        <p14:creationId xmlns:p14="http://schemas.microsoft.com/office/powerpoint/2010/main" val="3987357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D4B02-EC67-441C-A84F-9941B1D6F95B}"/>
              </a:ext>
            </a:extLst>
          </p:cNvPr>
          <p:cNvSpPr>
            <a:spLocks noGrp="1"/>
          </p:cNvSpPr>
          <p:nvPr>
            <p:ph type="title"/>
          </p:nvPr>
        </p:nvSpPr>
        <p:spPr/>
        <p:txBody>
          <a:bodyPr/>
          <a:lstStyle/>
          <a:p>
            <a:r>
              <a:rPr lang="en-US" dirty="0"/>
              <a:t>Markov chain</a:t>
            </a:r>
            <a:endParaRPr lang="bs-Latn-BA" dirty="0"/>
          </a:p>
        </p:txBody>
      </p:sp>
      <p:sp>
        <p:nvSpPr>
          <p:cNvPr id="4" name="Content Placeholder 3">
            <a:extLst>
              <a:ext uri="{FF2B5EF4-FFF2-40B4-BE49-F238E27FC236}">
                <a16:creationId xmlns:a16="http://schemas.microsoft.com/office/drawing/2014/main" id="{FA177BA1-B676-4C55-9D0B-8B2BB27A80C1}"/>
              </a:ext>
            </a:extLst>
          </p:cNvPr>
          <p:cNvSpPr>
            <a:spLocks noGrp="1"/>
          </p:cNvSpPr>
          <p:nvPr>
            <p:ph sz="half" idx="2"/>
          </p:nvPr>
        </p:nvSpPr>
        <p:spPr>
          <a:xfrm>
            <a:off x="563526" y="3241181"/>
            <a:ext cx="5187987" cy="2638623"/>
          </a:xfrm>
        </p:spPr>
        <p:txBody>
          <a:bodyPr/>
          <a:lstStyle/>
          <a:p>
            <a:pPr algn="just"/>
            <a:r>
              <a:rPr lang="en-US" sz="2000" dirty="0"/>
              <a:t>Matrix is called stochastic if :</a:t>
            </a:r>
          </a:p>
          <a:p>
            <a:pPr marL="800100" lvl="1" indent="-342900" algn="just">
              <a:buFont typeface="+mj-lt"/>
              <a:buAutoNum type="arabicPeriod"/>
            </a:pPr>
            <a:r>
              <a:rPr lang="en-US" sz="1800" dirty="0"/>
              <a:t>All entries are greater than or equal to zero.</a:t>
            </a:r>
          </a:p>
          <a:p>
            <a:pPr marL="800100" lvl="1" indent="-342900" algn="just">
              <a:buFont typeface="+mj-lt"/>
              <a:buAutoNum type="arabicPeriod"/>
            </a:pPr>
            <a:r>
              <a:rPr lang="en-US" sz="1800" dirty="0"/>
              <a:t>The sum of the entries in any column is one.</a:t>
            </a:r>
          </a:p>
          <a:p>
            <a:pPr marL="800100" lvl="1" indent="-342900" algn="just">
              <a:buFont typeface="+mj-lt"/>
              <a:buAutoNum type="arabicPeriod"/>
            </a:pPr>
            <a:endParaRPr lang="en-US" sz="1800" dirty="0"/>
          </a:p>
          <a:p>
            <a:pPr marL="800100" lvl="1" indent="-342900" algn="just">
              <a:buFont typeface="+mj-lt"/>
              <a:buAutoNum type="arabicPeriod"/>
            </a:pPr>
            <a:endParaRPr lang="en-US" sz="1800" dirty="0"/>
          </a:p>
          <a:p>
            <a:endParaRPr lang="bs-Latn-BA" dirty="0"/>
          </a:p>
        </p:txBody>
      </p:sp>
      <p:sp>
        <p:nvSpPr>
          <p:cNvPr id="5" name="Text Placeholder 4">
            <a:extLst>
              <a:ext uri="{FF2B5EF4-FFF2-40B4-BE49-F238E27FC236}">
                <a16:creationId xmlns:a16="http://schemas.microsoft.com/office/drawing/2014/main" id="{689FCAF3-1C2D-4A20-A923-AF324AFE18E5}"/>
              </a:ext>
            </a:extLst>
          </p:cNvPr>
          <p:cNvSpPr>
            <a:spLocks noGrp="1"/>
          </p:cNvSpPr>
          <p:nvPr>
            <p:ph type="body" sz="quarter" idx="3"/>
          </p:nvPr>
        </p:nvSpPr>
        <p:spPr/>
        <p:txBody>
          <a:bodyPr/>
          <a:lstStyle/>
          <a:p>
            <a:r>
              <a:rPr lang="en-US" dirty="0"/>
              <a:t>Transition probability matrix</a:t>
            </a:r>
            <a:endParaRPr lang="bs-Latn-BA" dirty="0"/>
          </a:p>
        </p:txBody>
      </p:sp>
      <p:pic>
        <p:nvPicPr>
          <p:cNvPr id="7" name="Content Placeholder 6">
            <a:extLst>
              <a:ext uri="{FF2B5EF4-FFF2-40B4-BE49-F238E27FC236}">
                <a16:creationId xmlns:a16="http://schemas.microsoft.com/office/drawing/2014/main" id="{20215A7F-13E8-4767-BDE8-49C1EEA3C354}"/>
              </a:ext>
            </a:extLst>
          </p:cNvPr>
          <p:cNvPicPr>
            <a:picLocks noGrp="1" noChangeAspect="1"/>
          </p:cNvPicPr>
          <p:nvPr>
            <p:ph sz="quarter" idx="4"/>
          </p:nvPr>
        </p:nvPicPr>
        <p:blipFill>
          <a:blip r:embed="rId2"/>
          <a:stretch>
            <a:fillRect/>
          </a:stretch>
        </p:blipFill>
        <p:spPr>
          <a:xfrm>
            <a:off x="6296819" y="3287712"/>
            <a:ext cx="4048125" cy="2085975"/>
          </a:xfrm>
          <a:prstGeom prst="rect">
            <a:avLst/>
          </a:prstGeom>
        </p:spPr>
      </p:pic>
      <p:pic>
        <p:nvPicPr>
          <p:cNvPr id="8" name="Picture 7">
            <a:extLst>
              <a:ext uri="{FF2B5EF4-FFF2-40B4-BE49-F238E27FC236}">
                <a16:creationId xmlns:a16="http://schemas.microsoft.com/office/drawing/2014/main" id="{614E25DF-F8AC-4E8D-8189-4EEDDFA997EC}"/>
              </a:ext>
            </a:extLst>
          </p:cNvPr>
          <p:cNvPicPr>
            <a:picLocks noChangeAspect="1"/>
          </p:cNvPicPr>
          <p:nvPr/>
        </p:nvPicPr>
        <p:blipFill>
          <a:blip r:embed="rId3"/>
          <a:stretch>
            <a:fillRect/>
          </a:stretch>
        </p:blipFill>
        <p:spPr>
          <a:xfrm>
            <a:off x="1516747" y="4938077"/>
            <a:ext cx="3086100" cy="435610"/>
          </a:xfrm>
          <a:prstGeom prst="rect">
            <a:avLst/>
          </a:prstGeom>
        </p:spPr>
      </p:pic>
    </p:spTree>
    <p:extLst>
      <p:ext uri="{BB962C8B-B14F-4D97-AF65-F5344CB8AC3E}">
        <p14:creationId xmlns:p14="http://schemas.microsoft.com/office/powerpoint/2010/main" val="3134465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DB612-0025-432E-84F0-878CC38D7FE6}"/>
              </a:ext>
            </a:extLst>
          </p:cNvPr>
          <p:cNvSpPr>
            <a:spLocks noGrp="1"/>
          </p:cNvSpPr>
          <p:nvPr>
            <p:ph type="title"/>
          </p:nvPr>
        </p:nvSpPr>
        <p:spPr>
          <a:xfrm>
            <a:off x="685801" y="609601"/>
            <a:ext cx="10131425" cy="645042"/>
          </a:xfrm>
        </p:spPr>
        <p:txBody>
          <a:bodyPr>
            <a:normAutofit/>
          </a:bodyPr>
          <a:lstStyle/>
          <a:p>
            <a:r>
              <a:rPr lang="en-US" dirty="0">
                <a:latin typeface="Garamond" panose="02020404030301010803" pitchFamily="18" charset="0"/>
              </a:rPr>
              <a:t>Atmospheric pressure</a:t>
            </a:r>
          </a:p>
        </p:txBody>
      </p:sp>
      <p:sp>
        <p:nvSpPr>
          <p:cNvPr id="3" name="Content Placeholder 2">
            <a:extLst>
              <a:ext uri="{FF2B5EF4-FFF2-40B4-BE49-F238E27FC236}">
                <a16:creationId xmlns:a16="http://schemas.microsoft.com/office/drawing/2014/main" id="{2C7A1603-925A-44EA-97CB-67197CB19A07}"/>
              </a:ext>
            </a:extLst>
          </p:cNvPr>
          <p:cNvSpPr>
            <a:spLocks noGrp="1"/>
          </p:cNvSpPr>
          <p:nvPr>
            <p:ph idx="1"/>
          </p:nvPr>
        </p:nvSpPr>
        <p:spPr>
          <a:xfrm>
            <a:off x="685801" y="1679944"/>
            <a:ext cx="10131425" cy="4720856"/>
          </a:xfrm>
        </p:spPr>
        <p:txBody>
          <a:bodyPr>
            <a:normAutofit lnSpcReduction="10000"/>
          </a:bodyPr>
          <a:lstStyle/>
          <a:p>
            <a:r>
              <a:rPr lang="en-US" dirty="0">
                <a:latin typeface="Garamond" panose="02020404030301010803" pitchFamily="18" charset="0"/>
              </a:rPr>
              <a:t>A barometer is a device that reads atmospheric pressure</a:t>
            </a:r>
          </a:p>
          <a:p>
            <a:pPr marL="0" indent="0">
              <a:buNone/>
            </a:pPr>
            <a:endParaRPr lang="bs-Latn-BA" dirty="0">
              <a:latin typeface="Garamond" panose="02020404030301010803" pitchFamily="18" charset="0"/>
            </a:endParaRPr>
          </a:p>
          <a:p>
            <a:r>
              <a:rPr lang="en-US" dirty="0">
                <a:latin typeface="Garamond" panose="02020404030301010803" pitchFamily="18" charset="0"/>
              </a:rPr>
              <a:t>Few examples of how to interpret barometric readings:</a:t>
            </a:r>
          </a:p>
          <a:p>
            <a:pPr lvl="1"/>
            <a:r>
              <a:rPr lang="en-US" dirty="0">
                <a:latin typeface="Garamond" panose="02020404030301010803" pitchFamily="18" charset="0"/>
              </a:rPr>
              <a:t>When the air is dry, cool, and pleasant, the barometer reading rises.</a:t>
            </a:r>
          </a:p>
          <a:p>
            <a:pPr lvl="1"/>
            <a:r>
              <a:rPr lang="en-US" dirty="0">
                <a:latin typeface="Garamond" panose="02020404030301010803" pitchFamily="18" charset="0"/>
              </a:rPr>
              <a:t>In general, a rising barometer means improving weather.</a:t>
            </a:r>
          </a:p>
          <a:p>
            <a:pPr lvl="1"/>
            <a:r>
              <a:rPr lang="en-US" dirty="0">
                <a:latin typeface="Garamond" panose="02020404030301010803" pitchFamily="18" charset="0"/>
              </a:rPr>
              <a:t>In general, a falling barometer means worsening weather.</a:t>
            </a:r>
          </a:p>
          <a:p>
            <a:pPr lvl="1"/>
            <a:r>
              <a:rPr lang="en-US" dirty="0">
                <a:latin typeface="Garamond" panose="02020404030301010803" pitchFamily="18" charset="0"/>
              </a:rPr>
              <a:t>When atmospheric pressure drops suddenly, this usually indicates that a storm is on its way.</a:t>
            </a:r>
          </a:p>
          <a:p>
            <a:pPr lvl="1"/>
            <a:r>
              <a:rPr lang="en-US" dirty="0">
                <a:latin typeface="Garamond" panose="02020404030301010803" pitchFamily="18" charset="0"/>
              </a:rPr>
              <a:t>When atmospheric pressure remains steady, there will likely be no immediate change in the weather.</a:t>
            </a:r>
          </a:p>
          <a:p>
            <a:pPr lvl="1"/>
            <a:endParaRPr lang="en-US" dirty="0">
              <a:latin typeface="Garamond" panose="02020404030301010803" pitchFamily="18" charset="0"/>
            </a:endParaRPr>
          </a:p>
          <a:p>
            <a:r>
              <a:rPr lang="en-US" dirty="0">
                <a:latin typeface="Garamond" panose="02020404030301010803" pitchFamily="18" charset="0"/>
              </a:rPr>
              <a:t>A barometric reading over 30.20 inHg (1022.689 mb) is considered high, and high pressure is associated with clear skies and calm weather </a:t>
            </a:r>
          </a:p>
          <a:p>
            <a:r>
              <a:rPr lang="en-US" dirty="0">
                <a:latin typeface="Garamond" panose="02020404030301010803" pitchFamily="18" charset="0"/>
              </a:rPr>
              <a:t>Range of 29.80 and 30.20 inHg (1022.689–1009.144 mb ) is normal - associated with steady weather </a:t>
            </a:r>
          </a:p>
          <a:p>
            <a:r>
              <a:rPr lang="en-US" dirty="0">
                <a:latin typeface="Garamond" panose="02020404030301010803" pitchFamily="18" charset="0"/>
              </a:rPr>
              <a:t>Below 29.80 inHg (1009.144 mb) is low - warm air and rainstorms </a:t>
            </a:r>
          </a:p>
          <a:p>
            <a:endParaRPr lang="bs-Latn-BA" dirty="0">
              <a:latin typeface="Garamond" panose="02020404030301010803" pitchFamily="18" charset="0"/>
            </a:endParaRPr>
          </a:p>
        </p:txBody>
      </p:sp>
    </p:spTree>
    <p:extLst>
      <p:ext uri="{BB962C8B-B14F-4D97-AF65-F5344CB8AC3E}">
        <p14:creationId xmlns:p14="http://schemas.microsoft.com/office/powerpoint/2010/main" val="1675806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7E3CF-BDF6-4ED2-A433-0BA4C805976E}"/>
              </a:ext>
            </a:extLst>
          </p:cNvPr>
          <p:cNvSpPr>
            <a:spLocks noGrp="1"/>
          </p:cNvSpPr>
          <p:nvPr>
            <p:ph type="title"/>
          </p:nvPr>
        </p:nvSpPr>
        <p:spPr>
          <a:xfrm>
            <a:off x="685801" y="609601"/>
            <a:ext cx="10131425" cy="836428"/>
          </a:xfrm>
        </p:spPr>
        <p:txBody>
          <a:bodyPr/>
          <a:lstStyle/>
          <a:p>
            <a:r>
              <a:rPr lang="en-US" dirty="0"/>
              <a:t>Results</a:t>
            </a:r>
            <a:endParaRPr lang="bs-Latn-BA" dirty="0"/>
          </a:p>
        </p:txBody>
      </p:sp>
      <p:sp>
        <p:nvSpPr>
          <p:cNvPr id="3" name="Content Placeholder 2">
            <a:extLst>
              <a:ext uri="{FF2B5EF4-FFF2-40B4-BE49-F238E27FC236}">
                <a16:creationId xmlns:a16="http://schemas.microsoft.com/office/drawing/2014/main" id="{77655867-C9F5-4EC4-9EE2-BE0017227BEB}"/>
              </a:ext>
            </a:extLst>
          </p:cNvPr>
          <p:cNvSpPr>
            <a:spLocks noGrp="1"/>
          </p:cNvSpPr>
          <p:nvPr>
            <p:ph sz="half" idx="1"/>
          </p:nvPr>
        </p:nvSpPr>
        <p:spPr>
          <a:xfrm>
            <a:off x="685801" y="2142067"/>
            <a:ext cx="5959547" cy="3649134"/>
          </a:xfrm>
        </p:spPr>
        <p:txBody>
          <a:bodyPr>
            <a:normAutofit fontScale="92500"/>
          </a:bodyPr>
          <a:lstStyle/>
          <a:p>
            <a:r>
              <a:rPr lang="en-US" dirty="0"/>
              <a:t>a)	 The system was in state Sunny in 11 cases. In 8 cases the system remained in the Sunny state.</a:t>
            </a:r>
          </a:p>
          <a:p>
            <a:r>
              <a:rPr lang="en-US" dirty="0"/>
              <a:t>b) Out of 11 Sunny cases, in 2 cases, the system transitioned from Sunny to Cloudy and in only 1 case to Rain.</a:t>
            </a:r>
          </a:p>
          <a:p>
            <a:r>
              <a:rPr lang="en-US" dirty="0"/>
              <a:t>c)	State Cloudy in 6 cases. In 2 cases the system remained in Cloudy states.</a:t>
            </a:r>
          </a:p>
          <a:p>
            <a:r>
              <a:rPr lang="en-US" dirty="0"/>
              <a:t>d) Out of 6 cases, in 2 cases the system transitioned from Cloudy to Sunny and in 2 cases to Rain.</a:t>
            </a:r>
          </a:p>
          <a:p>
            <a:r>
              <a:rPr lang="en-US" dirty="0"/>
              <a:t>e) State Rain in 4 cases. In two cases the system transitioned from Rain to Cloudy and once system remained Rain.</a:t>
            </a:r>
          </a:p>
          <a:p>
            <a:endParaRPr lang="bs-Latn-BA" dirty="0"/>
          </a:p>
        </p:txBody>
      </p:sp>
      <p:pic>
        <p:nvPicPr>
          <p:cNvPr id="6" name="Content Placeholder 5">
            <a:extLst>
              <a:ext uri="{FF2B5EF4-FFF2-40B4-BE49-F238E27FC236}">
                <a16:creationId xmlns:a16="http://schemas.microsoft.com/office/drawing/2014/main" id="{4DB25BDB-4E47-456C-AF16-366CF16CFBF0}"/>
              </a:ext>
            </a:extLst>
          </p:cNvPr>
          <p:cNvPicPr>
            <a:picLocks noGrp="1" noChangeAspect="1"/>
          </p:cNvPicPr>
          <p:nvPr>
            <p:ph sz="half" idx="2"/>
          </p:nvPr>
        </p:nvPicPr>
        <p:blipFill>
          <a:blip r:embed="rId2"/>
          <a:stretch>
            <a:fillRect/>
          </a:stretch>
        </p:blipFill>
        <p:spPr>
          <a:xfrm>
            <a:off x="7823504" y="2142067"/>
            <a:ext cx="2520489" cy="824547"/>
          </a:xfrm>
          <a:prstGeom prst="rect">
            <a:avLst/>
          </a:prstGeom>
        </p:spPr>
      </p:pic>
      <p:pic>
        <p:nvPicPr>
          <p:cNvPr id="7" name="Picture 6">
            <a:extLst>
              <a:ext uri="{FF2B5EF4-FFF2-40B4-BE49-F238E27FC236}">
                <a16:creationId xmlns:a16="http://schemas.microsoft.com/office/drawing/2014/main" id="{62BFA663-36E6-4C6A-83CE-0A59AA070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7378" y="3556591"/>
            <a:ext cx="4639310" cy="1725035"/>
          </a:xfrm>
          <a:prstGeom prst="rect">
            <a:avLst/>
          </a:prstGeom>
        </p:spPr>
      </p:pic>
    </p:spTree>
    <p:extLst>
      <p:ext uri="{BB962C8B-B14F-4D97-AF65-F5344CB8AC3E}">
        <p14:creationId xmlns:p14="http://schemas.microsoft.com/office/powerpoint/2010/main" val="1764945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625B-ABAC-4FAB-A1B0-0EDDF148F875}"/>
              </a:ext>
            </a:extLst>
          </p:cNvPr>
          <p:cNvSpPr>
            <a:spLocks noGrp="1"/>
          </p:cNvSpPr>
          <p:nvPr>
            <p:ph type="title"/>
          </p:nvPr>
        </p:nvSpPr>
        <p:spPr>
          <a:xfrm>
            <a:off x="685801" y="609601"/>
            <a:ext cx="10131425" cy="762000"/>
          </a:xfrm>
        </p:spPr>
        <p:txBody>
          <a:bodyPr/>
          <a:lstStyle/>
          <a:p>
            <a:r>
              <a:rPr lang="en-US" dirty="0"/>
              <a:t>Results</a:t>
            </a:r>
            <a:endParaRPr lang="bs-Latn-BA" dirty="0"/>
          </a:p>
        </p:txBody>
      </p:sp>
      <p:sp>
        <p:nvSpPr>
          <p:cNvPr id="3" name="Content Placeholder 2">
            <a:extLst>
              <a:ext uri="{FF2B5EF4-FFF2-40B4-BE49-F238E27FC236}">
                <a16:creationId xmlns:a16="http://schemas.microsoft.com/office/drawing/2014/main" id="{9016BDEF-884D-4B6F-9C8E-DAFC0B483F30}"/>
              </a:ext>
            </a:extLst>
          </p:cNvPr>
          <p:cNvSpPr>
            <a:spLocks noGrp="1"/>
          </p:cNvSpPr>
          <p:nvPr>
            <p:ph sz="half" idx="1"/>
          </p:nvPr>
        </p:nvSpPr>
        <p:spPr>
          <a:xfrm>
            <a:off x="685802" y="2046371"/>
            <a:ext cx="4995334" cy="3649134"/>
          </a:xfrm>
        </p:spPr>
        <p:txBody>
          <a:bodyPr/>
          <a:lstStyle/>
          <a:p>
            <a:r>
              <a:rPr lang="en-US" dirty="0"/>
              <a:t>Atmospheric pressure was within 1003–1007 hPa can cause a migraine </a:t>
            </a:r>
          </a:p>
          <a:p>
            <a:endParaRPr lang="en-US" dirty="0"/>
          </a:p>
          <a:p>
            <a:r>
              <a:rPr lang="en-US" dirty="0"/>
              <a:t>Column which are lower and sometimes equal to 1007 mbar are marked as risk for health</a:t>
            </a:r>
          </a:p>
          <a:p>
            <a:endParaRPr lang="en-US" dirty="0"/>
          </a:p>
          <a:p>
            <a:r>
              <a:rPr lang="en-US" dirty="0"/>
              <a:t>Maximum temperature is greater than or equal to 33°C</a:t>
            </a:r>
            <a:endParaRPr lang="bs-Latn-BA" dirty="0"/>
          </a:p>
        </p:txBody>
      </p:sp>
      <p:pic>
        <p:nvPicPr>
          <p:cNvPr id="5" name="Content Placeholder 4">
            <a:extLst>
              <a:ext uri="{FF2B5EF4-FFF2-40B4-BE49-F238E27FC236}">
                <a16:creationId xmlns:a16="http://schemas.microsoft.com/office/drawing/2014/main" id="{EE7BC036-8125-4FBF-B811-8EF44A3F84F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21363" y="2490460"/>
            <a:ext cx="5885084" cy="3251758"/>
          </a:xfrm>
          <a:prstGeom prst="rect">
            <a:avLst/>
          </a:prstGeom>
        </p:spPr>
      </p:pic>
    </p:spTree>
    <p:extLst>
      <p:ext uri="{BB962C8B-B14F-4D97-AF65-F5344CB8AC3E}">
        <p14:creationId xmlns:p14="http://schemas.microsoft.com/office/powerpoint/2010/main" val="3342826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7E42C-1030-4679-9F77-9C4C34E44BBA}"/>
              </a:ext>
            </a:extLst>
          </p:cNvPr>
          <p:cNvSpPr>
            <a:spLocks noGrp="1"/>
          </p:cNvSpPr>
          <p:nvPr>
            <p:ph type="title"/>
          </p:nvPr>
        </p:nvSpPr>
        <p:spPr>
          <a:xfrm>
            <a:off x="932032" y="983402"/>
            <a:ext cx="5640071" cy="772632"/>
          </a:xfrm>
        </p:spPr>
        <p:txBody>
          <a:bodyPr/>
          <a:lstStyle/>
          <a:p>
            <a:r>
              <a:rPr lang="en-US" dirty="0"/>
              <a:t>Results</a:t>
            </a:r>
            <a:endParaRPr lang="bs-Latn-BA" dirty="0"/>
          </a:p>
        </p:txBody>
      </p:sp>
      <p:sp>
        <p:nvSpPr>
          <p:cNvPr id="3" name="Content Placeholder 2">
            <a:extLst>
              <a:ext uri="{FF2B5EF4-FFF2-40B4-BE49-F238E27FC236}">
                <a16:creationId xmlns:a16="http://schemas.microsoft.com/office/drawing/2014/main" id="{5D95CEDD-227A-4B14-8F58-AAA0371116AB}"/>
              </a:ext>
            </a:extLst>
          </p:cNvPr>
          <p:cNvSpPr>
            <a:spLocks noGrp="1"/>
          </p:cNvSpPr>
          <p:nvPr>
            <p:ph sz="half" idx="1"/>
          </p:nvPr>
        </p:nvSpPr>
        <p:spPr>
          <a:xfrm>
            <a:off x="685802" y="2142066"/>
            <a:ext cx="5180328" cy="3918491"/>
          </a:xfrm>
        </p:spPr>
        <p:txBody>
          <a:bodyPr/>
          <a:lstStyle/>
          <a:p>
            <a:pPr algn="just"/>
            <a:r>
              <a:rPr lang="en-US" dirty="0"/>
              <a:t>Of the 11 risk cases, 6 had sunny weather, mostly due to high temperatures, 2 cases had cloudy weather and 3 rain.</a:t>
            </a:r>
          </a:p>
          <a:p>
            <a:pPr algn="just"/>
            <a:endParaRPr lang="en-US" dirty="0"/>
          </a:p>
          <a:p>
            <a:pPr algn="just"/>
            <a:r>
              <a:rPr lang="en-US" dirty="0"/>
              <a:t>Of the 10 not risk cases 5 had sunny weather, four had cloudy and one had rain. </a:t>
            </a:r>
            <a:endParaRPr lang="bs-Latn-BA" dirty="0"/>
          </a:p>
        </p:txBody>
      </p:sp>
      <p:pic>
        <p:nvPicPr>
          <p:cNvPr id="5" name="Content Placeholder 4">
            <a:extLst>
              <a:ext uri="{FF2B5EF4-FFF2-40B4-BE49-F238E27FC236}">
                <a16:creationId xmlns:a16="http://schemas.microsoft.com/office/drawing/2014/main" id="{C9B64647-F914-4065-8753-01443AD74AE9}"/>
              </a:ext>
            </a:extLst>
          </p:cNvPr>
          <p:cNvPicPr>
            <a:picLocks noGrp="1" noChangeAspect="1"/>
          </p:cNvPicPr>
          <p:nvPr>
            <p:ph sz="half" idx="2"/>
          </p:nvPr>
        </p:nvPicPr>
        <p:blipFill>
          <a:blip r:embed="rId2"/>
          <a:stretch>
            <a:fillRect/>
          </a:stretch>
        </p:blipFill>
        <p:spPr>
          <a:xfrm>
            <a:off x="7278077" y="1756034"/>
            <a:ext cx="1933575" cy="866775"/>
          </a:xfrm>
          <a:prstGeom prst="rect">
            <a:avLst/>
          </a:prstGeom>
        </p:spPr>
      </p:pic>
      <p:pic>
        <p:nvPicPr>
          <p:cNvPr id="6" name="Picture 5">
            <a:extLst>
              <a:ext uri="{FF2B5EF4-FFF2-40B4-BE49-F238E27FC236}">
                <a16:creationId xmlns:a16="http://schemas.microsoft.com/office/drawing/2014/main" id="{CD63D249-9EA7-4E82-8E5C-A5030E3A1F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5872" y="2771775"/>
            <a:ext cx="4491354" cy="3476624"/>
          </a:xfrm>
          <a:prstGeom prst="rect">
            <a:avLst/>
          </a:prstGeom>
        </p:spPr>
      </p:pic>
    </p:spTree>
    <p:extLst>
      <p:ext uri="{BB962C8B-B14F-4D97-AF65-F5344CB8AC3E}">
        <p14:creationId xmlns:p14="http://schemas.microsoft.com/office/powerpoint/2010/main" val="1619137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465E-1AD7-4838-B983-1106193CB0F1}"/>
              </a:ext>
            </a:extLst>
          </p:cNvPr>
          <p:cNvSpPr>
            <a:spLocks noGrp="1"/>
          </p:cNvSpPr>
          <p:nvPr>
            <p:ph type="title"/>
          </p:nvPr>
        </p:nvSpPr>
        <p:spPr>
          <a:xfrm>
            <a:off x="5433236" y="2945218"/>
            <a:ext cx="1754373" cy="749595"/>
          </a:xfrm>
        </p:spPr>
        <p:txBody>
          <a:bodyPr>
            <a:normAutofit/>
          </a:bodyPr>
          <a:lstStyle/>
          <a:p>
            <a:r>
              <a:rPr lang="en-US" sz="3600" dirty="0"/>
              <a:t>Demo</a:t>
            </a:r>
            <a:endParaRPr lang="bs-Latn-BA" sz="3600" dirty="0"/>
          </a:p>
        </p:txBody>
      </p:sp>
      <p:sp>
        <p:nvSpPr>
          <p:cNvPr id="3" name="Picture Placeholder 2">
            <a:extLst>
              <a:ext uri="{FF2B5EF4-FFF2-40B4-BE49-F238E27FC236}">
                <a16:creationId xmlns:a16="http://schemas.microsoft.com/office/drawing/2014/main" id="{25252885-B3F9-4A9E-A102-00D6202E9F2C}"/>
              </a:ext>
            </a:extLst>
          </p:cNvPr>
          <p:cNvSpPr>
            <a:spLocks noGrp="1"/>
          </p:cNvSpPr>
          <p:nvPr>
            <p:ph type="pic" idx="1"/>
          </p:nvPr>
        </p:nvSpPr>
        <p:spPr>
          <a:xfrm>
            <a:off x="4455513" y="1143000"/>
            <a:ext cx="3280974" cy="4572000"/>
          </a:xfrm>
        </p:spPr>
      </p:sp>
    </p:spTree>
    <p:extLst>
      <p:ext uri="{BB962C8B-B14F-4D97-AF65-F5344CB8AC3E}">
        <p14:creationId xmlns:p14="http://schemas.microsoft.com/office/powerpoint/2010/main" val="32336653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E56B-5298-48AB-95C7-DC504C13A8A5}"/>
              </a:ext>
            </a:extLst>
          </p:cNvPr>
          <p:cNvSpPr>
            <a:spLocks noGrp="1"/>
          </p:cNvSpPr>
          <p:nvPr>
            <p:ph type="title"/>
          </p:nvPr>
        </p:nvSpPr>
        <p:spPr>
          <a:xfrm>
            <a:off x="685801" y="609601"/>
            <a:ext cx="10131425" cy="985284"/>
          </a:xfrm>
        </p:spPr>
        <p:txBody>
          <a:bodyPr/>
          <a:lstStyle/>
          <a:p>
            <a:r>
              <a:rPr lang="en-US" dirty="0"/>
              <a:t>Future work</a:t>
            </a:r>
            <a:endParaRPr lang="bs-Latn-BA" dirty="0"/>
          </a:p>
        </p:txBody>
      </p:sp>
      <p:sp>
        <p:nvSpPr>
          <p:cNvPr id="3" name="Content Placeholder 2">
            <a:extLst>
              <a:ext uri="{FF2B5EF4-FFF2-40B4-BE49-F238E27FC236}">
                <a16:creationId xmlns:a16="http://schemas.microsoft.com/office/drawing/2014/main" id="{2954D36B-C7BE-4A7A-A807-66D71B478FA0}"/>
              </a:ext>
            </a:extLst>
          </p:cNvPr>
          <p:cNvSpPr>
            <a:spLocks noGrp="1"/>
          </p:cNvSpPr>
          <p:nvPr>
            <p:ph idx="1"/>
          </p:nvPr>
        </p:nvSpPr>
        <p:spPr>
          <a:xfrm>
            <a:off x="685802" y="1711843"/>
            <a:ext cx="8670850" cy="3934045"/>
          </a:xfrm>
        </p:spPr>
        <p:txBody>
          <a:bodyPr>
            <a:normAutofit/>
          </a:bodyPr>
          <a:lstStyle/>
          <a:p>
            <a:pPr algn="just"/>
            <a:r>
              <a:rPr lang="en-US" sz="2000" dirty="0"/>
              <a:t>Weather’s impact on mental health</a:t>
            </a:r>
          </a:p>
          <a:p>
            <a:pPr algn="just"/>
            <a:endParaRPr lang="en-US" sz="2000" dirty="0"/>
          </a:p>
          <a:p>
            <a:pPr algn="just"/>
            <a:r>
              <a:rPr lang="en-US" sz="2000" dirty="0"/>
              <a:t> How people can prepare in advance for the upcoming weather changes </a:t>
            </a:r>
          </a:p>
          <a:p>
            <a:pPr algn="just"/>
            <a:endParaRPr lang="en-US" sz="2000" dirty="0"/>
          </a:p>
          <a:p>
            <a:pPr algn="just"/>
            <a:r>
              <a:rPr lang="en-US" sz="2000" dirty="0"/>
              <a:t>Possibly include humidity and wind speed</a:t>
            </a:r>
            <a:endParaRPr lang="bs-Latn-BA" sz="2000" dirty="0"/>
          </a:p>
        </p:txBody>
      </p:sp>
    </p:spTree>
    <p:extLst>
      <p:ext uri="{BB962C8B-B14F-4D97-AF65-F5344CB8AC3E}">
        <p14:creationId xmlns:p14="http://schemas.microsoft.com/office/powerpoint/2010/main" val="4251133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792D-EC0B-4A8F-9B18-25A0D3F867FD}"/>
              </a:ext>
            </a:extLst>
          </p:cNvPr>
          <p:cNvSpPr>
            <a:spLocks noGrp="1"/>
          </p:cNvSpPr>
          <p:nvPr>
            <p:ph type="title"/>
          </p:nvPr>
        </p:nvSpPr>
        <p:spPr/>
        <p:txBody>
          <a:bodyPr/>
          <a:lstStyle/>
          <a:p>
            <a:r>
              <a:rPr lang="en-US" dirty="0"/>
              <a:t>Conclusion</a:t>
            </a:r>
            <a:endParaRPr lang="bs-Latn-BA" dirty="0"/>
          </a:p>
        </p:txBody>
      </p:sp>
      <p:sp>
        <p:nvSpPr>
          <p:cNvPr id="3" name="Content Placeholder 2">
            <a:extLst>
              <a:ext uri="{FF2B5EF4-FFF2-40B4-BE49-F238E27FC236}">
                <a16:creationId xmlns:a16="http://schemas.microsoft.com/office/drawing/2014/main" id="{A1842D9E-A148-450D-A4AB-A659E75A28F9}"/>
              </a:ext>
            </a:extLst>
          </p:cNvPr>
          <p:cNvSpPr>
            <a:spLocks noGrp="1"/>
          </p:cNvSpPr>
          <p:nvPr>
            <p:ph idx="1"/>
          </p:nvPr>
        </p:nvSpPr>
        <p:spPr/>
        <p:txBody>
          <a:bodyPr/>
          <a:lstStyle/>
          <a:p>
            <a:r>
              <a:rPr lang="en-US" dirty="0"/>
              <a:t>Sudden changes in weather, in air pressure and temperature can indeed have huge impact on people physical and mental health. </a:t>
            </a:r>
          </a:p>
          <a:p>
            <a:endParaRPr lang="en-US" dirty="0"/>
          </a:p>
          <a:p>
            <a:r>
              <a:rPr lang="en-US" dirty="0"/>
              <a:t>Greatest health risk is caused by rainy weather (low pressure)</a:t>
            </a:r>
          </a:p>
          <a:p>
            <a:endParaRPr lang="en-US" dirty="0"/>
          </a:p>
          <a:p>
            <a:r>
              <a:rPr lang="en-US" dirty="0"/>
              <a:t>Health problems can also occur when the weather is sunny but only if temperatures are high. </a:t>
            </a:r>
            <a:endParaRPr lang="bs-Latn-BA" dirty="0"/>
          </a:p>
        </p:txBody>
      </p:sp>
    </p:spTree>
    <p:extLst>
      <p:ext uri="{BB962C8B-B14F-4D97-AF65-F5344CB8AC3E}">
        <p14:creationId xmlns:p14="http://schemas.microsoft.com/office/powerpoint/2010/main" val="3469588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8CAD1-5320-46DD-B4B5-F2F25FFB1B2E}"/>
              </a:ext>
            </a:extLst>
          </p:cNvPr>
          <p:cNvSpPr>
            <a:spLocks noGrp="1"/>
          </p:cNvSpPr>
          <p:nvPr>
            <p:ph type="title"/>
          </p:nvPr>
        </p:nvSpPr>
        <p:spPr>
          <a:xfrm>
            <a:off x="685801" y="1541720"/>
            <a:ext cx="10131427" cy="1887279"/>
          </a:xfrm>
        </p:spPr>
        <p:txBody>
          <a:bodyPr>
            <a:normAutofit/>
          </a:bodyPr>
          <a:lstStyle/>
          <a:p>
            <a:pPr algn="ctr"/>
            <a:r>
              <a:rPr lang="en-US" sz="3600" dirty="0">
                <a:latin typeface="Garamond" panose="02020404030301010803" pitchFamily="18" charset="0"/>
              </a:rPr>
              <a:t>Thanks for watching!</a:t>
            </a:r>
            <a:endParaRPr lang="bs-Latn-BA" sz="3600" dirty="0">
              <a:latin typeface="Garamond" panose="02020404030301010803" pitchFamily="18" charset="0"/>
            </a:endParaRPr>
          </a:p>
        </p:txBody>
      </p:sp>
      <p:sp>
        <p:nvSpPr>
          <p:cNvPr id="3" name="Text Placeholder 2">
            <a:extLst>
              <a:ext uri="{FF2B5EF4-FFF2-40B4-BE49-F238E27FC236}">
                <a16:creationId xmlns:a16="http://schemas.microsoft.com/office/drawing/2014/main" id="{0915425A-4C35-45F7-8CA7-94728B891F70}"/>
              </a:ext>
            </a:extLst>
          </p:cNvPr>
          <p:cNvSpPr>
            <a:spLocks noGrp="1"/>
          </p:cNvSpPr>
          <p:nvPr>
            <p:ph type="body" idx="1"/>
          </p:nvPr>
        </p:nvSpPr>
        <p:spPr>
          <a:xfrm>
            <a:off x="685800" y="3429000"/>
            <a:ext cx="10131428" cy="1015409"/>
          </a:xfrm>
        </p:spPr>
        <p:txBody>
          <a:bodyPr>
            <a:normAutofit/>
          </a:bodyPr>
          <a:lstStyle/>
          <a:p>
            <a:pPr algn="ctr"/>
            <a:r>
              <a:rPr lang="en-US" sz="2800" dirty="0">
                <a:latin typeface="Garamond" panose="02020404030301010803" pitchFamily="18" charset="0"/>
              </a:rPr>
              <a:t>Questions?</a:t>
            </a:r>
            <a:endParaRPr lang="bs-Latn-BA" sz="2800" dirty="0">
              <a:latin typeface="Garamond" panose="02020404030301010803" pitchFamily="18" charset="0"/>
            </a:endParaRPr>
          </a:p>
        </p:txBody>
      </p:sp>
    </p:spTree>
    <p:extLst>
      <p:ext uri="{BB962C8B-B14F-4D97-AF65-F5344CB8AC3E}">
        <p14:creationId xmlns:p14="http://schemas.microsoft.com/office/powerpoint/2010/main" val="3869782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74CA42D53A0458378F8656F24661D" ma:contentTypeVersion="14" ma:contentTypeDescription="Create a new document." ma:contentTypeScope="" ma:versionID="acada6340fa0abcc3e3db299338aee6e">
  <xsd:schema xmlns:xsd="http://www.w3.org/2001/XMLSchema" xmlns:xs="http://www.w3.org/2001/XMLSchema" xmlns:p="http://schemas.microsoft.com/office/2006/metadata/properties" xmlns:ns3="d4d7a7e2-7321-465e-8f12-3412bd21a856" xmlns:ns4="6edc74e6-73fa-4461-8809-13f414888c0c" targetNamespace="http://schemas.microsoft.com/office/2006/metadata/properties" ma:root="true" ma:fieldsID="66d76c003fbe08123b8adf2fc98f40c0" ns3:_="" ns4:_="">
    <xsd:import namespace="d4d7a7e2-7321-465e-8f12-3412bd21a856"/>
    <xsd:import namespace="6edc74e6-73fa-4461-8809-13f414888c0c"/>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LengthInSeconds"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d7a7e2-7321-465e-8f12-3412bd21a85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edc74e6-73fa-4461-8809-13f414888c0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43EB947-BAC7-457F-ADAD-86A0E58DFC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d7a7e2-7321-465e-8f12-3412bd21a856"/>
    <ds:schemaRef ds:uri="6edc74e6-73fa-4461-8809-13f414888c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CE3AC9-CE6B-496A-AEAE-BD92ADB455D4}">
  <ds:schemaRefs>
    <ds:schemaRef ds:uri="http://purl.org/dc/dcmitype/"/>
    <ds:schemaRef ds:uri="http://purl.org/dc/terms/"/>
    <ds:schemaRef ds:uri="http://schemas.microsoft.com/office/2006/documentManagement/types"/>
    <ds:schemaRef ds:uri="http://www.w3.org/XML/1998/namespace"/>
    <ds:schemaRef ds:uri="http://purl.org/dc/elements/1.1/"/>
    <ds:schemaRef ds:uri="d4d7a7e2-7321-465e-8f12-3412bd21a856"/>
    <ds:schemaRef ds:uri="http://schemas.microsoft.com/office/infopath/2007/PartnerControls"/>
    <ds:schemaRef ds:uri="http://schemas.openxmlformats.org/package/2006/metadata/core-properties"/>
    <ds:schemaRef ds:uri="6edc74e6-73fa-4461-8809-13f414888c0c"/>
    <ds:schemaRef ds:uri="http://schemas.microsoft.com/office/2006/metadata/properties"/>
  </ds:schemaRefs>
</ds:datastoreItem>
</file>

<file path=customXml/itemProps3.xml><?xml version="1.0" encoding="utf-8"?>
<ds:datastoreItem xmlns:ds="http://schemas.openxmlformats.org/officeDocument/2006/customXml" ds:itemID="{DD0F3DCC-620D-4ED8-8F68-C22CABDF34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926</TotalTime>
  <Words>908</Words>
  <Application>Microsoft Office PowerPoint</Application>
  <PresentationFormat>Widescreen</PresentationFormat>
  <Paragraphs>115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Garamond</vt:lpstr>
      <vt:lpstr>Celestial</vt:lpstr>
      <vt:lpstr>PowerPoint Presentation</vt:lpstr>
      <vt:lpstr>Content:</vt:lpstr>
      <vt:lpstr>Introduction</vt:lpstr>
      <vt:lpstr>Introduction</vt:lpstr>
      <vt:lpstr>Business understanding and methods</vt:lpstr>
      <vt:lpstr>Data understanding </vt:lpstr>
      <vt:lpstr>Data understanding </vt:lpstr>
      <vt:lpstr>Markov chain</vt:lpstr>
      <vt:lpstr>Markov chain</vt:lpstr>
      <vt:lpstr>Atmospheric pressure</vt:lpstr>
      <vt:lpstr>Results</vt:lpstr>
      <vt:lpstr>Results</vt:lpstr>
      <vt:lpstr>Results</vt:lpstr>
      <vt:lpstr>Demo</vt:lpstr>
      <vt:lpstr>Future work</vt:lpstr>
      <vt:lpstr>Conclusion</vt:lpstr>
      <vt:lpstr>Thanks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Zorka Kunovac</dc:creator>
  <cp:lastModifiedBy>Zorka Kunovac</cp:lastModifiedBy>
  <cp:revision>82</cp:revision>
  <dcterms:created xsi:type="dcterms:W3CDTF">2022-06-28T10:21:05Z</dcterms:created>
  <dcterms:modified xsi:type="dcterms:W3CDTF">2022-06-29T15:39:16Z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0x0101007D674CA42D53A0458378F8656F24661D</vt:lpwstr>
  </property>
</Properties>
</file>